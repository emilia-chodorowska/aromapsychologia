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71717"/>
                </a:solidFill>
                <a:latin typeface="Inter"/>
              </a:defRPr>
            </a:pPr>
            <a:r>
              <a:t>Trening Węchowy</a:t>
            </a:r>
          </a:p>
          <a:p>
            <a:pPr>
              <a:spcBef>
                <a:spcPts val="0"/>
              </a:spcBef>
              <a:defRPr sz="4800" b="1">
                <a:solidFill>
                  <a:srgbClr val="171717"/>
                </a:solidFill>
                <a:latin typeface="Inter"/>
              </a:defRPr>
            </a:pPr>
            <a:r>
              <a:t>w warunkach domowych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3A3A3"/>
                </a:solidFill>
                <a:latin typeface="Inter"/>
              </a:defRPr>
            </a:pPr>
            <a:r>
              <a:t>Opracowanie: Emilia Chodorowska · na podstawie kursu Aromapsychologia Anny Bober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1 · WSTĘP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Dlaczego Twój nos „zamilkł”?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Grypa</a:t>
            </a:r>
            <a:r>
              <a:rPr sz="1700">
                <a:solidFill>
                  <a:srgbClr val="737373"/>
                </a:solidFill>
                <a:latin typeface="Inter"/>
              </a:rPr>
              <a:t> → obrzęk tkanek fizycznie blokuje dostęp aromatów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COVID-19</a:t>
            </a:r>
            <a:r>
              <a:rPr sz="1700">
                <a:solidFill>
                  <a:srgbClr val="737373"/>
                </a:solidFill>
                <a:latin typeface="Inter"/>
              </a:rPr>
              <a:t> → drożne przewody nosowe, ale wirus atakuje komórki podporowe i gruczoły Bowmana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/>
            </a:r>
            <a:r>
              <a:rPr sz="1700">
                <a:solidFill>
                  <a:srgbClr val="737373"/>
                </a:solidFill>
                <a:latin typeface="Inter"/>
              </a:rPr>
              <a:t>Neurony węchowe tracą „system podtrzymywania życia” — jak sprawne odbiorniki bez zasilania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/>
            </a:r>
            <a:r>
              <a:rPr sz="1700">
                <a:solidFill>
                  <a:srgbClr val="737373"/>
                </a:solidFill>
                <a:latin typeface="Inter"/>
              </a:rPr>
              <a:t>Brak stymulacji → atrofia opuszki węchowej i zmiany w hipokampie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1 · WSTĘP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Dlaczego to minie?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737373"/>
                </a:solidFill>
                <a:latin typeface="Inter"/>
              </a:defRPr>
            </a:pPr>
            <a:r>
              <a:t>Neurony węchowe mają unikalną zdolność do regeneracji.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9966960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lnSpc>
                <a:spcPts val="2400"/>
              </a:lnSpc>
            </a:pPr>
            <a:r>
              <a:rPr b="1" sz="1600">
                <a:solidFill>
                  <a:srgbClr val="171717"/>
                </a:solidFill>
                <a:latin typeface="Inter"/>
              </a:rPr>
              <a:t>„</a:t>
            </a:r>
            <a:r>
              <a:rPr sz="1600">
                <a:solidFill>
                  <a:srgbClr val="737373"/>
                </a:solidFill>
                <a:latin typeface="Inter"/>
              </a:rPr>
              <a:t> Systematyczny trening węchowy wykazuje skuteczność porównywalną z terapią sterydową. Regularna stymulacja zwiększa objętość istoty szarej w mózgu, odwracając negatywne skutki anosmii. Twój mózg jest plastyczny — trening to proces jego fizycznej odbudowy.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2 · WARSZTAT ZAPACHOWY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Co przygotować?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737373"/>
                </a:solidFill>
                <a:latin typeface="Inter"/>
              </a:defRPr>
            </a:pPr>
            <a:r>
              <a:t>Potrzebujemy stworzyć headspace — nasyconą cząsteczkami przestrzeń nad źródłem zapachu.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1717"/>
                </a:solidFill>
                <a:latin typeface="Inter"/>
              </a:defRPr>
            </a:pPr>
            <a:r>
              <a:t>Niezbędne wyposażenie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Słoiczki z ciemnego szkła (15-30 ml)</a:t>
            </a:r>
            <a:r>
              <a:rPr sz="1700">
                <a:solidFill>
                  <a:srgbClr val="737373"/>
                </a:solidFill>
                <a:latin typeface="Inter"/>
              </a:rPr>
              <a:t> — chronią olejki, koncentrują opary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Papier akwarelowy</a:t>
            </a:r>
            <a:r>
              <a:rPr sz="1700">
                <a:solidFill>
                  <a:srgbClr val="737373"/>
                </a:solidFill>
                <a:latin typeface="Inter"/>
              </a:rPr>
              <a:t> — porowatość idealnie trzyma aromat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Olejki eteryczne</a:t>
            </a:r>
            <a:r>
              <a:rPr sz="1700">
                <a:solidFill>
                  <a:srgbClr val="737373"/>
                </a:solidFill>
                <a:latin typeface="Inter"/>
              </a:rPr>
              <a:t> — wyłącznie naturalne, wysokiej jakości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2 · WARSZTAT ZAPACHOWY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Przygotowanie słoiczka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1. </a:t>
            </a:r>
            <a:r>
              <a:rPr sz="1700">
                <a:solidFill>
                  <a:srgbClr val="737373"/>
                </a:solidFill>
                <a:latin typeface="Inter"/>
              </a:rPr>
              <a:t>Włóż do słoiczka pasek papieru akwarelowego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2. </a:t>
            </a:r>
            <a:r>
              <a:rPr sz="1700">
                <a:solidFill>
                  <a:srgbClr val="737373"/>
                </a:solidFill>
                <a:latin typeface="Inter"/>
              </a:rPr>
              <a:t>Nasącz go 4-8 kroplami wybranego olejku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3. </a:t>
            </a:r>
            <a:r>
              <a:rPr sz="1700">
                <a:solidFill>
                  <a:srgbClr val="737373"/>
                </a:solidFill>
                <a:latin typeface="Inter"/>
              </a:rPr>
              <a:t>Szczelnie zakręć, odczekaj godzinę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4. </a:t>
            </a:r>
            <a:r>
              <a:rPr sz="1700">
                <a:solidFill>
                  <a:srgbClr val="737373"/>
                </a:solidFill>
                <a:latin typeface="Inter"/>
              </a:rPr>
              <a:t>Co tydzień wymieniaj papier i dolewaj olejku (cytrusy szybko oksydują)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5. </a:t>
            </a:r>
            <a:r>
              <a:rPr sz="1700">
                <a:solidFill>
                  <a:srgbClr val="737373"/>
                </a:solidFill>
                <a:latin typeface="Inter"/>
              </a:rPr>
              <a:t>Poproś kogoś ze sprawnym węchem o weryfikację intensywności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3 · WYBÓR ZAPACHÓW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Cztery fundamenty treningu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00400"/>
                <a:gridCol w="31089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Grupa zapachowa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Zamienniki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Dlaczego?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Kwiatowa (Róża)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Geranium, ylang-ylang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Subtelne receptory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Owocowa (Cytryna)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Pomarańcza, grejpfrut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Wysoka intensywność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Korzenna (Goździki)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Cynamon, wanilia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Zakotwiczenie w pamięci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Żywicza (Eukaliptus)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Mięta, rozmaryn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Nerw trójdzielny (chłód)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966960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lnSpc>
                <a:spcPts val="2400"/>
              </a:lnSpc>
            </a:pPr>
            <a:r>
              <a:rPr b="1" sz="1600">
                <a:solidFill>
                  <a:srgbClr val="171717"/>
                </a:solidFill>
                <a:latin typeface="Inter"/>
              </a:rPr>
              <a:t>Pamięć węchowa:</a:t>
            </a:r>
            <a:r>
              <a:rPr sz="1600">
                <a:solidFill>
                  <a:srgbClr val="737373"/>
                </a:solidFill>
                <a:latin typeface="Inter"/>
              </a:rPr>
              <a:t> Wybieraj aromaty budzące silne wspomnienia. Emocjonalny ślad w mózgu ułatwia regenerację połączeń synaptycznych.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4 · TECHNIKA ODDECHOWA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Technika „Małych Wdechów”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737373"/>
                </a:solidFill>
                <a:latin typeface="Inter"/>
              </a:defRPr>
            </a:pPr>
            <a:r>
              <a:t>Głęboki wdech omija nabłonek węchowy — kieruje powietrze prosto do płuc.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9966960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lnSpc>
                <a:spcPts val="2400"/>
              </a:lnSpc>
            </a:pPr>
            <a:r>
              <a:rPr b="1" sz="1600">
                <a:solidFill>
                  <a:srgbClr val="171717"/>
                </a:solidFill>
                <a:latin typeface="Inter"/>
              </a:rPr>
              <a:t>Prawidłowa technika:</a:t>
            </a:r>
            <a:r>
              <a:rPr sz="1600">
                <a:solidFill>
                  <a:srgbClr val="737373"/>
                </a:solidFill>
                <a:latin typeface="Inter"/>
              </a:rPr>
              <a:t> Krótkie, małe wdechy — jak pies na spacerze. Tworzysz zawirowania powietrza, które kierują headspace bezpośrednio na pole węchowe.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4 · SESJA TRENINGOWA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Sesja treningowa (~2 min.)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☐ </a:t>
            </a:r>
            <a:r>
              <a:rPr sz="1700">
                <a:solidFill>
                  <a:srgbClr val="737373"/>
                </a:solidFill>
                <a:latin typeface="Inter"/>
              </a:rPr>
              <a:t>Wybierz spokojne miejsce, wycisz telefon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☐ </a:t>
            </a:r>
            <a:r>
              <a:rPr sz="1700">
                <a:solidFill>
                  <a:srgbClr val="737373"/>
                </a:solidFill>
                <a:latin typeface="Inter"/>
              </a:rPr>
              <a:t>Otwórz słoiczek, zbliż go do nosa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☐ </a:t>
            </a:r>
            <a:r>
              <a:rPr sz="1700">
                <a:solidFill>
                  <a:srgbClr val="737373"/>
                </a:solidFill>
                <a:latin typeface="Inter"/>
              </a:rPr>
              <a:t>20 sekund wąchania techniką małych wdechów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☐ </a:t>
            </a:r>
            <a:r>
              <a:rPr sz="1700">
                <a:solidFill>
                  <a:srgbClr val="737373"/>
                </a:solidFill>
                <a:latin typeface="Inter"/>
              </a:rPr>
              <a:t>Zamknij słoiczek — 10-15 sek. przerwy (neutralne powietrze)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☐ </a:t>
            </a:r>
            <a:r>
              <a:rPr sz="1700">
                <a:solidFill>
                  <a:srgbClr val="737373"/>
                </a:solidFill>
                <a:latin typeface="Inter"/>
              </a:rPr>
              <a:t>Przejdź do kolejnego zapachu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☐ </a:t>
            </a:r>
            <a:r>
              <a:rPr sz="1700">
                <a:solidFill>
                  <a:srgbClr val="737373"/>
                </a:solidFill>
                <a:latin typeface="Inter"/>
              </a:rPr>
              <a:t>Powtarzaj 2x dziennie: rano i wieczorem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5 · PRACA MENTALNA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Wąchanie wyobraźnią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737373"/>
                </a:solidFill>
                <a:latin typeface="Inter"/>
              </a:defRPr>
            </a:pPr>
            <a:r>
              <a:t>Nawet przy absolutnej pustce Twoja kora węchowa może wykazywać aktywność.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Zamknij oczy</a:t>
            </a:r>
            <a:r>
              <a:rPr sz="1700">
                <a:solidFill>
                  <a:srgbClr val="737373"/>
                </a:solidFill>
                <a:latin typeface="Inter"/>
              </a:rPr>
              <a:t> podczas wąchania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Przywołaj obraz obiektu</a:t>
            </a:r>
            <a:r>
              <a:rPr sz="1700">
                <a:solidFill>
                  <a:srgbClr val="737373"/>
                </a:solidFill>
                <a:latin typeface="Inter"/>
              </a:rPr>
              <a:t> — kolor, teksturę, smak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/>
            </a:r>
            <a:r>
              <a:rPr sz="1700">
                <a:solidFill>
                  <a:srgbClr val="737373"/>
                </a:solidFill>
                <a:latin typeface="Inter"/>
              </a:rPr>
              <a:t>Spróbuj „poczuć” zapach siłą woli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Wspieraj się bodźcami wizualnymi</a:t>
            </a:r>
            <a:r>
              <a:rPr sz="1700">
                <a:solidFill>
                  <a:srgbClr val="737373"/>
                </a:solidFill>
                <a:latin typeface="Inter"/>
              </a:rPr>
              <a:t> — zdjęcia, obrazy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6 · DZIENNICZEK POSTĘPÓW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Cierpliwość i śledzenie postępów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Pierwsze efekty:</a:t>
            </a:r>
            <a:r>
              <a:rPr sz="1700">
                <a:solidFill>
                  <a:srgbClr val="737373"/>
                </a:solidFill>
                <a:latin typeface="Inter"/>
              </a:rPr>
              <a:t> zazwyczaj po 4 miesiącach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Pełna rehabilitacja:</a:t>
            </a:r>
            <a:r>
              <a:rPr sz="1700">
                <a:solidFill>
                  <a:srgbClr val="737373"/>
                </a:solidFill>
                <a:latin typeface="Inter"/>
              </a:rPr>
              <a:t> 14-24 miesiące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9966960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lnSpc>
                <a:spcPts val="2400"/>
              </a:lnSpc>
            </a:pPr>
            <a:r>
              <a:rPr b="1" sz="1600">
                <a:solidFill>
                  <a:srgbClr val="171717"/>
                </a:solidFill>
                <a:latin typeface="Inter"/>
              </a:rPr>
              <a:t>Parosmia = dobry znak!</a:t>
            </a:r>
            <a:r>
              <a:rPr sz="1600">
                <a:solidFill>
                  <a:srgbClr val="737373"/>
                </a:solidFill>
                <a:latin typeface="Inter"/>
              </a:rPr>
              <a:t> Nieprzyjemne, zniekształcone zapachy (np. spalona guma zamiast kawy) to dowód, że neurony nawiązują nowe połączenia.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411480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Pole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Wpis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..................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Zapach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..................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Odczucia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nic / chłód / zniekształcony / czysty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Intensywność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737373"/>
                          </a:solidFill>
                          <a:latin typeface="Inter"/>
                        </a:defRPr>
                      </a:pPr>
                      <a:r>
                        <a:t>0 – 1 – 2 – 3 – 4 –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7 · SZERSZE KORZYŚCI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Nie tylko po wirusie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737373"/>
                </a:solidFill>
                <a:latin typeface="Inter"/>
              </a:defRPr>
            </a:pPr>
            <a:r>
              <a:t>Trening węchowy przynosi szersze korzyści dla mózgu: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Poprawa funkcji poznawczych</a:t>
            </a:r>
            <a:r>
              <a:rPr sz="1700">
                <a:solidFill>
                  <a:srgbClr val="737373"/>
                </a:solidFill>
                <a:latin typeface="Inter"/>
              </a:rPr>
              <a:t> — udowodniona u osób starszych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Poprawa płynności semantycznej i werbalnej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Zwiększenie objętości istoty szarej</a:t>
            </a:r>
            <a:r>
              <a:rPr sz="1700">
                <a:solidFill>
                  <a:srgbClr val="737373"/>
                </a:solidFill>
                <a:latin typeface="Inter"/>
              </a:rPr>
              <a:t> — odwraca skutki anosmii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Wydłużenie życia neuronów węchowych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>
                <a:solidFill>
                  <a:srgbClr val="A3A3A3"/>
                </a:solidFill>
                <a:latin typeface="Inter"/>
              </a:rPr>
              <a:t>  •  </a:t>
            </a:r>
            <a:r>
              <a:rPr b="1" sz="1700">
                <a:solidFill>
                  <a:srgbClr val="171717"/>
                </a:solidFill>
                <a:latin typeface="Inter"/>
              </a:rPr>
              <a:t>Poprawa nastroju</a:t>
            </a:r>
            <a:r>
              <a:rPr sz="1700">
                <a:solidFill>
                  <a:srgbClr val="737373"/>
                </a:solidFill>
                <a:latin typeface="Inter"/>
              </a:rPr>
              <a:t> — potwierdzona klinicznie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7 · NEUROPLASTYCZNOŚĆ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Mózg się odbudowuje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1717"/>
                </a:solidFill>
                <a:latin typeface="Inter"/>
              </a:defRPr>
            </a:pPr>
            <a:r>
              <a:t>Istota szara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737373"/>
                </a:solidFill>
                <a:latin typeface="Inter"/>
              </a:defRPr>
            </a:pPr>
            <a:r>
              <a:t>Anosmia powoduje utratę istoty szarej. Systematyczny trening olfaktoryczny fizycznie zwiększa jej objętość, odwracając negatywne skutki.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1717"/>
                </a:solidFill>
                <a:latin typeface="Inter"/>
              </a:defRPr>
            </a:pPr>
            <a:r>
              <a:t>Łączność strukturalna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737373"/>
                </a:solidFill>
                <a:latin typeface="Inter"/>
              </a:defRPr>
            </a:pPr>
            <a:r>
              <a:t>Długoterminowa ekspozycja na bodźce węchowe przebudowuje szlaki nerwowe. Nawet nocna ekspozycja (2h/noc przez 6 miesięcy) poprawia łączność między układem limbicznym a korą mózgową.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3A3A3"/>
                </a:solidFill>
                <a:latin typeface="Inter"/>
              </a:defRPr>
            </a:pPr>
            <a:r>
              <a:t>8 · PODSUMOWANIE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1717"/>
                </a:solidFill>
                <a:latin typeface="Inter"/>
              </a:defRPr>
            </a:pPr>
            <a:r>
              <a:t>Złote zasady cierpliwego odkrywcy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1. </a:t>
            </a:r>
            <a:r>
              <a:rPr b="1" sz="1700">
                <a:solidFill>
                  <a:srgbClr val="171717"/>
                </a:solidFill>
                <a:latin typeface="Inter"/>
              </a:rPr>
              <a:t>SYSTEMATYCZNOŚĆ</a:t>
            </a:r>
            <a:r>
              <a:rPr sz="1700">
                <a:solidFill>
                  <a:srgbClr val="737373"/>
                </a:solidFill>
                <a:latin typeface="Inter"/>
              </a:rPr>
              <a:t> — 2x dziennie, codziennie. To Twoje lekarstwo.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2. </a:t>
            </a:r>
            <a:r>
              <a:rPr b="1" sz="1700">
                <a:solidFill>
                  <a:srgbClr val="171717"/>
                </a:solidFill>
                <a:latin typeface="Inter"/>
              </a:rPr>
              <a:t>TECHNIKA ODDECHU</a:t>
            </a:r>
            <a:r>
              <a:rPr sz="1700">
                <a:solidFill>
                  <a:srgbClr val="737373"/>
                </a:solidFill>
                <a:latin typeface="Inter"/>
              </a:rPr>
              <a:t> — Krótkie, „węszące” wdechy.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3. </a:t>
            </a:r>
            <a:r>
              <a:rPr b="1" sz="1700">
                <a:solidFill>
                  <a:srgbClr val="171717"/>
                </a:solidFill>
                <a:latin typeface="Inter"/>
              </a:rPr>
              <a:t>WYOBRAŹNIA</a:t>
            </a:r>
            <a:r>
              <a:rPr sz="1700">
                <a:solidFill>
                  <a:srgbClr val="737373"/>
                </a:solidFill>
                <a:latin typeface="Inter"/>
              </a:rPr>
              <a:t> — Mózg reaguje na wspomnienie zapachu tak samo intensywnie jak na bodziec.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4. </a:t>
            </a:r>
            <a:r>
              <a:rPr b="1" sz="1700">
                <a:solidFill>
                  <a:srgbClr val="171717"/>
                </a:solidFill>
                <a:latin typeface="Inter"/>
              </a:rPr>
              <a:t>STYMULACJA TRÓJDZIELNA</a:t>
            </a:r>
            <a:r>
              <a:rPr sz="1700">
                <a:solidFill>
                  <a:srgbClr val="737373"/>
                </a:solidFill>
                <a:latin typeface="Inter"/>
              </a:rPr>
              <a:t> — Zawsze mięta lub eukaliptus w zestawie.</a:t>
            </a:r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sz="1700" b="1">
                <a:solidFill>
                  <a:srgbClr val="171717"/>
                </a:solidFill>
                <a:latin typeface="Inter"/>
              </a:rPr>
              <a:t>5. </a:t>
            </a:r>
            <a:r>
              <a:rPr b="1" sz="1700">
                <a:solidFill>
                  <a:srgbClr val="171717"/>
                </a:solidFill>
                <a:latin typeface="Inter"/>
              </a:rPr>
              <a:t>CZAS I CIERPLIWOŚĆ</a:t>
            </a:r>
            <a:r>
              <a:rPr sz="1700">
                <a:solidFill>
                  <a:srgbClr val="737373"/>
                </a:solidFill>
                <a:latin typeface="Inter"/>
              </a:rPr>
              <a:t> — 4 miesiące na pierwszy sygnał powrotu.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